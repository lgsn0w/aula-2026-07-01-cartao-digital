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8160D-1D6B-4F88-9A4A-806A25FE8590}" v="29" dt="2026-07-01T11:26:05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8DA6B-F200-4594-84C6-8C50ABCBEA24}" type="datetimeFigureOut">
              <a:t>01/07/2026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1D37-F2D8-4ED6-9DAA-59A5CD863548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623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 ·  WEB  ·  HTML/CSS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778240" y="1005840"/>
            <a:ext cx="2926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43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2000" dirty="0"/>
          </a:p>
          <a:p>
            <a:pPr marL="0" indent="0" algn="r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43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2000" dirty="0"/>
          </a:p>
          <a:p>
            <a:pPr marL="0" indent="0" algn="r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43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2000" dirty="0"/>
          </a:p>
          <a:p>
            <a:pPr marL="0" indent="0" algn="r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43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2000" dirty="0"/>
          </a:p>
          <a:p>
            <a:pPr marL="0" indent="0" algn="r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43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2000" dirty="0"/>
          </a:p>
          <a:p>
            <a:pPr marL="0" indent="0" algn="r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43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2000" dirty="0"/>
          </a:p>
          <a:p>
            <a:pPr marL="0" indent="0" algn="r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43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&amp; CSS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o cartão digital: estrutura, aparência e a primeira página da web.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HTML organiza o conteúdo. O CSS decide como ele aparece.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para o Python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6" cy="2880360"/>
        </p:xfrm>
        <a:graphic>
          <a:graphicData uri="http://schemas.openxmlformats.org/drawingml/2006/table">
            <a:tbl>
              <a:tblPr/>
              <a:tblGrid>
                <a:gridCol w="559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Python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HTML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044"/>
                          </a:solidFill>
                        </a:rPr>
                        <a:t>Você dá instruções. O computador calcula.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044"/>
                          </a:solidFill>
                        </a:rPr>
                        <a:t>Você organiza conteúdo. O navegador mostra.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044"/>
                          </a:solidFill>
                        </a:rPr>
                        <a:t>Calcular, decidir, repetir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044"/>
                          </a:solidFill>
                        </a:rPr>
                        <a:t>Não calcula. Só estrutura.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044"/>
                          </a:solidFill>
                        </a:rPr>
                        <a:t>Variáveis, loops, condições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044"/>
                          </a:solidFill>
                        </a:rPr>
                        <a:t>Tags, atributos, hierarquia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044"/>
                          </a:solidFill>
                        </a:rPr>
                        <a:t>Saída no terminal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044"/>
                          </a:solidFill>
                        </a:rPr>
                        <a:t>Saída no navegador (visual)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70916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2EEF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70916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Python, você escreve instruções para o computador executar. Em HTML, você descreve o conteúdo da página para o navegador exibir. O HTML não faz contas nem toma decisões: só organiza o que vai aparecer na tela.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HTML?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Language: linguagem de marcação para a web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51525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2057400"/>
            <a:ext cx="300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2468880"/>
            <a:ext cx="30031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com links que conectam páginas entre si. A 'H' e o 'T' do HTTP.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218" y="1783080"/>
            <a:ext cx="351525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4250" y="2057400"/>
            <a:ext cx="300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94250" y="2468880"/>
            <a:ext cx="30031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Marcamos o conteúdo com tags: &lt;h1&gt; = título, &lt;p&gt; = parágrafo, &lt;img&gt; = imagem.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73517" y="1783080"/>
            <a:ext cx="351525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29549" y="2057400"/>
            <a:ext cx="300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29549" y="2468880"/>
            <a:ext cx="30031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regras de sintaxe, mas o navegador é tolerante a pequenos erros.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1772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páginas que estão na internet são alguma variação de HTML.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tag?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instrução entre colchetes angulares que diz ao navegador o que o conteúdo representa.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2103120"/>
            <a:ext cx="300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2514600"/>
            <a:ext cx="30031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&lt; seguido do nome da tag. Indica onde o elemento começa. Exemplo: &lt;h1&gt;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4250" y="2103120"/>
            <a:ext cx="300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94250" y="2514600"/>
            <a:ext cx="30031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aparece na tela. Pode ser texto, imagem ou outras tags aninhadas dentro.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73517" y="182880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29549" y="2103120"/>
            <a:ext cx="300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29549" y="2514600"/>
            <a:ext cx="30031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elemento com uma barra antes do nome. Exemplo: &lt;/h1&gt;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720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dentro da tag define o que ela representa para o navegador e para o CSS.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uma tag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5855" cy="914400"/>
          </a:xfrm>
          <a:prstGeom prst="roundRect">
            <a:avLst>
              <a:gd name="adj" fmla="val 9000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107469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mundo!</a:t>
            </a:r>
            <a:r>
              <a:rPr lang="en-US" sz="22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696669" cy="960120"/>
          </a:xfrm>
          <a:prstGeom prst="roundRect">
            <a:avLst>
              <a:gd name="adj" fmla="val 7619"/>
            </a:avLst>
          </a:prstGeom>
          <a:solidFill>
            <a:srgbClr val="F2EEF9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2926080"/>
            <a:ext cx="14772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tag (&lt; sozinho)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0757" y="2834640"/>
            <a:ext cx="1696669" cy="960120"/>
          </a:xfrm>
          <a:prstGeom prst="roundRect">
            <a:avLst>
              <a:gd name="adj" fmla="val 7619"/>
            </a:avLst>
          </a:prstGeom>
          <a:solidFill>
            <a:srgbClr val="F2EEF9"/>
          </a:solidFill>
          <a:ln/>
        </p:spPr>
      </p:sp>
      <p:sp>
        <p:nvSpPr>
          <p:cNvPr id="10" name="Text 8"/>
          <p:cNvSpPr/>
          <p:nvPr/>
        </p:nvSpPr>
        <p:spPr>
          <a:xfrm>
            <a:off x="2510485" y="2926080"/>
            <a:ext cx="14772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tag (h1)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8594" y="2834640"/>
            <a:ext cx="1696669" cy="960120"/>
          </a:xfrm>
          <a:prstGeom prst="roundRect">
            <a:avLst>
              <a:gd name="adj" fmla="val 7619"/>
            </a:avLst>
          </a:prstGeom>
          <a:solidFill>
            <a:srgbClr val="F2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4408322" y="2926080"/>
            <a:ext cx="14772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abertura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6432" y="2834640"/>
            <a:ext cx="1696669" cy="960120"/>
          </a:xfrm>
          <a:prstGeom prst="roundRect">
            <a:avLst>
              <a:gd name="adj" fmla="val 7619"/>
            </a:avLst>
          </a:prstGeom>
          <a:solidFill>
            <a:srgbClr val="F2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6160" y="2926080"/>
            <a:ext cx="14772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(o que aparece)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4269" y="2834640"/>
            <a:ext cx="1696669" cy="960120"/>
          </a:xfrm>
          <a:prstGeom prst="roundRect">
            <a:avLst>
              <a:gd name="adj" fmla="val 7619"/>
            </a:avLst>
          </a:prstGeom>
          <a:solidFill>
            <a:srgbClr val="F2EEF9"/>
          </a:solidFill>
          <a:ln/>
        </p:spPr>
      </p:sp>
      <p:sp>
        <p:nvSpPr>
          <p:cNvPr id="16" name="Text 14"/>
          <p:cNvSpPr/>
          <p:nvPr/>
        </p:nvSpPr>
        <p:spPr>
          <a:xfrm>
            <a:off x="8203997" y="2926080"/>
            <a:ext cx="14772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= fechamento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992106" y="2834640"/>
            <a:ext cx="1696669" cy="960120"/>
          </a:xfrm>
          <a:prstGeom prst="roundRect">
            <a:avLst>
              <a:gd name="adj" fmla="val 7619"/>
            </a:avLst>
          </a:prstGeom>
          <a:solidFill>
            <a:srgbClr val="F2EEF9"/>
          </a:solidFill>
          <a:ln/>
        </p:spPr>
      </p:sp>
      <p:sp>
        <p:nvSpPr>
          <p:cNvPr id="18" name="Text 16"/>
          <p:cNvSpPr/>
          <p:nvPr/>
        </p:nvSpPr>
        <p:spPr>
          <a:xfrm>
            <a:off x="10101834" y="2926080"/>
            <a:ext cx="14772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tag (repete)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9776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de abertura  +  conteúdo  +  tag de fechamento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5262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" y="4663440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4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"foto.jpg"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   </a:t>
            </a: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</a:t>
            </a:r>
            <a:r>
              <a:rPr lang="en-US" sz="14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864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tags não têm conteúdo entre elas: não precisam de tag de fechamento (self-closing).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menor página possível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852160" cy="3977640"/>
          </a:xfrm>
          <a:prstGeom prst="roundRect">
            <a:avLst>
              <a:gd name="adj" fmla="val 2069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737360"/>
            <a:ext cx="541324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&lt;!DOCTYPE html&gt;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&lt;html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lang=</a:t>
            </a:r>
            <a:r>
              <a:rPr lang="en-US" sz="1600" dirty="0">
                <a:solidFill>
                  <a:srgbClr val="8FE3C0"/>
                </a:solidFill>
                <a:latin typeface="Courier New"/>
                <a:ea typeface="Courier New" pitchFamily="34" charset="-122"/>
                <a:cs typeface="Courier New"/>
              </a:rPr>
              <a:t>"pt-BR"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&lt;head&gt;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&lt;meta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charset=</a:t>
            </a:r>
            <a:r>
              <a:rPr lang="en-US" sz="1600" dirty="0">
                <a:solidFill>
                  <a:srgbClr val="8FE3C0"/>
                </a:solidFill>
                <a:latin typeface="Courier New"/>
                <a:ea typeface="Courier New" pitchFamily="34" charset="-122"/>
                <a:cs typeface="Courier New"/>
              </a:rPr>
              <a:t>"UTF-8"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&lt;title&gt;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Minha Página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&lt;/title&gt;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&lt;/head&gt;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&lt;body&gt;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&lt;h1&gt;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Olá, </a:t>
            </a:r>
            <a:r>
              <a:rPr lang="en-US" sz="1600" dirty="0" err="1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mundo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!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&lt;/h1&gt;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&lt;p&gt;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Minha </a:t>
            </a:r>
            <a:r>
              <a:rPr lang="en-US" sz="1600" dirty="0" err="1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primeira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página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na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web.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&lt;/p&gt;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&lt;/body&gt;</a:t>
            </a:r>
            <a:endParaRPr lang="en-US" sz="16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&lt;/html&gt;</a:t>
            </a:r>
            <a:endParaRPr lang="en-US" sz="1600">
              <a:latin typeface="Courier New"/>
              <a:ea typeface="Calibri"/>
              <a:cs typeface="Courier New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600200"/>
          <a:ext cx="5150815" cy="35204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&lt;!DOCTYPE html&gt;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Diz ao navegador: 'Este é HTML5'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&lt;html lang&gt;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Raiz do documento, idioma = português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&lt;head&gt;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Info da página: NÃO aparece na tela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&lt;meta charset&gt;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Suporte a acentos e caracteres especiais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&lt;title&gt;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Texto da aba do navegador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&lt;body&gt;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TUDO que aparece na tela fica aqui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&lt;/body&gt; &lt;/html&gt;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Fechamentos obrigatórios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7150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o usuário vê na tela fica no body. Tudo que o navegador usa internamente, como codificação de caracteres ou o título da aba, fica no head.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no &lt;head&gt;?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sobre a página: o navegador lê, o usuário não vê.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85855" cy="1828800"/>
          </a:xfrm>
          <a:prstGeom prst="roundRect">
            <a:avLst>
              <a:gd name="adj" fmla="val 4500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2376" y="1920240"/>
            <a:ext cx="107469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</a:t>
            </a:r>
            <a:r>
              <a:rPr lang="en-US" sz="13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r>
              <a:rPr lang="en-US" sz="13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"viewport"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content=</a:t>
            </a:r>
            <a:r>
              <a:rPr lang="en-US" sz="13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"width=device-width, initial-scale=1.0"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Lucas Gabriel | Cartão Digital</a:t>
            </a:r>
            <a:r>
              <a:rPr lang="en-US" sz="13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</a:t>
            </a:r>
            <a:r>
              <a:rPr lang="en-US" sz="13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3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"style.css"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5455768" cy="822960"/>
          </a:xfrm>
          <a:prstGeom prst="roundRect">
            <a:avLst>
              <a:gd name="adj" fmla="val 8889"/>
            </a:avLst>
          </a:prstGeom>
          <a:solidFill>
            <a:srgbClr val="F2EEF9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3950208"/>
            <a:ext cx="505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charset="UTF-8"&gt;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usar ç, ã, é e outros acentos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3840480"/>
            <a:ext cx="5455768" cy="822960"/>
          </a:xfrm>
          <a:prstGeom prst="roundRect">
            <a:avLst>
              <a:gd name="adj" fmla="val 8889"/>
            </a:avLst>
          </a:prstGeom>
          <a:solidFill>
            <a:srgbClr val="F2EEF9"/>
          </a:solidFill>
          <a:ln/>
        </p:spPr>
      </p:sp>
      <p:sp>
        <p:nvSpPr>
          <p:cNvPr id="11" name="Text 9"/>
          <p:cNvSpPr/>
          <p:nvPr/>
        </p:nvSpPr>
        <p:spPr>
          <a:xfrm>
            <a:off x="6434176" y="3950208"/>
            <a:ext cx="505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name="viewport"&gt;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 página funcionar bem no celular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5455768" cy="822960"/>
          </a:xfrm>
          <a:prstGeom prst="roundRect">
            <a:avLst>
              <a:gd name="adj" fmla="val 8889"/>
            </a:avLst>
          </a:prstGeom>
          <a:solidFill>
            <a:srgbClr val="F2EEF9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4910328"/>
            <a:ext cx="505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que aparece na aba do navegador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4800600"/>
            <a:ext cx="5455768" cy="822960"/>
          </a:xfrm>
          <a:prstGeom prst="roundRect">
            <a:avLst>
              <a:gd name="adj" fmla="val 8889"/>
            </a:avLst>
          </a:prstGeom>
          <a:solidFill>
            <a:srgbClr val="F2EE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34176" y="4910328"/>
            <a:ext cx="505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rel="stylesheet"&gt;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o arquivo CSS à página HTML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CECE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80644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charset="UTF-8", 'Olá' pode aparecer como 'Ol├í' no navegador.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informação extra dentro da tag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5855" cy="822960"/>
          </a:xfrm>
          <a:prstGeom prst="roundRect">
            <a:avLst>
              <a:gd name="adj" fmla="val 10000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107469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4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"https://github.com"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target=</a:t>
            </a:r>
            <a:r>
              <a:rPr lang="en-US" sz="14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"_blank"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&gt;GitHub</a:t>
            </a: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43200"/>
          <a:ext cx="11185855" cy="29992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Atributo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Usado em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 que faz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href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Endereço do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&lt;img&gt;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Caminho da imagem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&lt;img&gt;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alternativo (acessibilidade)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 para o CSS usar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único no documento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&lt;html&gt;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 do documento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charset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&lt;meta&gt;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Codificação de caracteres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abrir o link (_blank = nova aba)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7" name="Text 6"/>
          <p:cNvSpPr/>
          <p:nvPr/>
        </p:nvSpPr>
        <p:spPr>
          <a:xfrm>
            <a:off x="731520" y="598932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ficam sempre na tag de abertura, nunca na de fechamento.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Aninhamento: caixa dentro de caixa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760720" cy="3657600"/>
          </a:xfrm>
          <a:prstGeom prst="roundRect">
            <a:avLst>
              <a:gd name="adj" fmla="val 2250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737360"/>
            <a:ext cx="53218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&lt;body&gt;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&lt;header&gt;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&lt;h1&gt;</a:t>
            </a: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Lucas Gabriel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&lt;/h1&gt;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&lt;p&gt;</a:t>
            </a:r>
            <a:r>
              <a:rPr lang="en-US" sz="1300" dirty="0" err="1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Desenvolvedor</a:t>
            </a: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.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&lt;/p&gt;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&lt;/header&gt;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&lt;main&gt;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&lt;section&gt;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&lt;h2&gt;</a:t>
            </a:r>
            <a:r>
              <a:rPr lang="en-US" sz="1300" dirty="0" err="1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Sobre</a:t>
            </a: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mim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&lt;/h2&gt;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&lt;ul&gt;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  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&lt;li&gt;</a:t>
            </a: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Backend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&lt;/li&gt;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&lt;/ul&gt;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&lt;/section&gt;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&lt;/main&gt;</a:t>
            </a:r>
            <a:endParaRPr lang="en-US" sz="13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6A623"/>
                </a:solidFill>
                <a:latin typeface="Courier New"/>
                <a:ea typeface="Courier New" pitchFamily="34" charset="-122"/>
                <a:cs typeface="Courier New"/>
              </a:rPr>
              <a:t>&lt;/body&gt;</a:t>
            </a:r>
            <a:endParaRPr lang="en-US" sz="1300" dirty="0">
              <a:latin typeface="Courier New"/>
              <a:cs typeface="Courier New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46520" y="1600200"/>
            <a:ext cx="5242255" cy="2148840"/>
          </a:xfrm>
          <a:prstGeom prst="roundRect">
            <a:avLst>
              <a:gd name="adj" fmla="val 3404"/>
            </a:avLst>
          </a:prstGeom>
          <a:solidFill>
            <a:srgbClr val="F2EEF9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737360"/>
            <a:ext cx="47850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header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h1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main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section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h2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ul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3931920"/>
            <a:ext cx="5242255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4041648"/>
            <a:ext cx="47850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7F5A"/>
                </a:solidFill>
              </a:rPr>
              <a:t>✓  Abrir e fechar na ordem certa:  </a:t>
            </a:r>
            <a:r>
              <a:rPr lang="en-US" sz="11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&lt;a&gt;&lt;b&gt;&lt;/b&gt;&lt;/a&gt;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25F5C"/>
                </a:solidFill>
              </a:rPr>
              <a:t>✗  Cruzar tags:  </a:t>
            </a:r>
            <a:r>
              <a:rPr lang="en-US" sz="110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&lt;a&gt;&lt;b&gt;&lt;/a&gt;&lt;/b&gt;  →  ERRADO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7150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indentação (2 ou 4 espaços) para visualizar o nível de aninhamento.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semânticas: cada tag tem um significado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com nomes que descrevem o papel do conteúdo, ajudando navegadores e leitores de tela.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2EEF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48463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 &lt;header&gt; ──────┐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 Logo, </a:t>
            </a:r>
            <a:r>
              <a:rPr lang="en-US" sz="1150" dirty="0" err="1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nome</a:t>
            </a: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1150" dirty="0" err="1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navegação</a:t>
            </a: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 │</a:t>
            </a:r>
            <a:endParaRPr lang="en-US" sz="1150" dirty="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├───────────────────────┤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 &lt;nav&gt; Links </a:t>
            </a:r>
            <a:r>
              <a:rPr lang="en-US" sz="1150" dirty="0" err="1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principais</a:t>
            </a: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</a:t>
            </a:r>
            <a:endParaRPr lang="en-US" sz="1150" dirty="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 &lt;main&gt; ─────────┤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 ┌── &lt;section&gt; ──┐     │</a:t>
            </a:r>
            <a:endParaRPr lang="en-US" sz="1150">
              <a:latin typeface="Courier New"/>
              <a:ea typeface="Calibri"/>
              <a:cs typeface="Calibri"/>
            </a:endParaRPr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 │ h2 + </a:t>
            </a:r>
            <a:r>
              <a:rPr lang="en-US" sz="1150" dirty="0" err="1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conteúdo</a:t>
            </a: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 │     │</a:t>
            </a:r>
            <a:endParaRPr lang="en-US" sz="11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15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 └───────────────┘     │</a:t>
            </a:r>
            <a:endParaRPr lang="en-US" sz="115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15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 ┌── &lt;article&gt; ──┐     │</a:t>
            </a:r>
            <a:endParaRPr lang="en-US" sz="115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 │ Post, </a:t>
            </a:r>
            <a:r>
              <a:rPr lang="en-US" sz="1150" dirty="0" err="1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notícia</a:t>
            </a: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 │     │</a:t>
            </a:r>
            <a:endParaRPr lang="en-US" sz="11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15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 └───────────────┘     │</a:t>
            </a:r>
            <a:endParaRPr lang="en-US" sz="115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 &lt;footer&gt; ───────┤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│ </a:t>
            </a:r>
            <a:r>
              <a:rPr lang="en-US" sz="1150" dirty="0" err="1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Rodapé</a:t>
            </a: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: </a:t>
            </a:r>
            <a:r>
              <a:rPr lang="en-US" sz="1150" dirty="0" err="1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contato</a:t>
            </a:r>
            <a:r>
              <a:rPr lang="en-US" sz="1150" dirty="0">
                <a:solidFill>
                  <a:srgbClr val="1E2044"/>
                </a:solidFill>
                <a:latin typeface="Courier New"/>
                <a:ea typeface="Courier New" pitchFamily="34" charset="-122"/>
                <a:cs typeface="Courier New"/>
              </a:rPr>
              <a:t>       │</a:t>
            </a:r>
            <a:endParaRPr lang="en-US" sz="1150" dirty="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└───────────────────────┘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96535" cy="279806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Tag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Uso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&lt;header&gt;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Topo: logo, título, nav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&lt;nav&gt;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de navegação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&lt;main&gt;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principal (1× por página)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&lt;section&gt;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 conteúdo relacionado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&lt;article&gt;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independente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&lt;footer&gt;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Rodapé da página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&lt;div&gt;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genérica sem significado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0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&lt;span&gt;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inline genérico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603504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603504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&lt;div&gt; quando nenhuma tag semântica se encaixa: não como padrão.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 texto: organizando o que o leitor vê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760720" cy="2651760"/>
          </a:xfrm>
          <a:prstGeom prst="roundRect">
            <a:avLst>
              <a:gd name="adj" fmla="val 3103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5321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 principal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Subtítulo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parágrafo normal de texto.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com 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negrito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&lt;/strong&gt;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itálico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&lt;/em&gt;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1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2 (mesmo parágrafo)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"azul"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&gt;span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 estilizar.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33695" cy="263347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&lt;h1&gt;–&lt;h6&gt;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Hierarquia de títulos. Use um só &lt;h1&gt; por página.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Parágrafo. Espaço automático acima e abaixo.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&lt;strong&gt;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Negrito. Tem peso semântico (importante).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&lt;em&gt;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Itálico. Indica ênfase.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&lt;br&gt;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Quebra de linha no mesmo parágrafo.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&lt;span&gt;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044"/>
                          </a:solidFill>
                        </a:rPr>
                        <a:t>Container inline. Serve para o CSS estilizar.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61772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CECEB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61772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&lt;h2&gt; antes de &lt;h1&gt; só porque fica menor. Use a hierarquia correta.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Listas: ul · ol · li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NÃO-ORDENADA &lt;UL&gt;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45738" cy="1920240"/>
          </a:xfrm>
          <a:prstGeom prst="roundRect">
            <a:avLst>
              <a:gd name="adj" fmla="val 4286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2376" y="2148840"/>
            <a:ext cx="31068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069080"/>
            <a:ext cx="3545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quando a ordem dos itens não importa.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22978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ORDENADA &lt;OL&gt;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2011680"/>
            <a:ext cx="3545738" cy="1920240"/>
          </a:xfrm>
          <a:prstGeom prst="roundRect">
            <a:avLst>
              <a:gd name="adj" fmla="val 4286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2434" y="2148840"/>
            <a:ext cx="31068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Abra o VS Code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index.html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 o HTML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22978" y="4069080"/>
            <a:ext cx="3545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quando a sequência importa (passos, ranking).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43037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ANINHADA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3037" y="2011680"/>
            <a:ext cx="3545738" cy="1920240"/>
          </a:xfrm>
          <a:prstGeom prst="roundRect">
            <a:avLst>
              <a:gd name="adj" fmla="val 4286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2493" y="2148840"/>
            <a:ext cx="31068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&lt;ul&gt;&lt;li&gt;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&lt;/li&gt;&lt;/ul&gt;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43037" y="4069080"/>
            <a:ext cx="3545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&lt;li&gt; pode conter outra &lt;ul&gt; ou &lt;ol&gt;.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512064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podem ser aninhadas para representar estruturas hierárquicas de conteúdo.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a essência do HyperText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4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"https://github.com"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target=</a:t>
            </a:r>
            <a:r>
              <a:rPr lang="en-US" sz="14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"_blank"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&gt;Ver GitHub</a:t>
            </a: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5806440" cy="3063240"/>
          </a:xfrm>
          <a:prstGeom prst="roundRect">
            <a:avLst>
              <a:gd name="adj" fmla="val 268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" y="2743200"/>
            <a:ext cx="5367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Link externo --&gt;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"https://github.com"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&gt;GitHub</a:t>
            </a: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Link para arquivo local --&gt;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"contato.html"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&gt;Contato</a:t>
            </a: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Abre em nova aba --&gt;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"https://google.com"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target=</a:t>
            </a:r>
            <a:r>
              <a:rPr lang="en-US" sz="11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"_blank"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&gt;Google</a:t>
            </a: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Link para seção da mesma página --&gt;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"#sobre"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&gt;Ir para Sobre</a:t>
            </a: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Link de e-mail --&gt;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"mailto:lucas@email.com"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&gt;Enviar e-mail</a:t>
            </a: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606040"/>
            <a:ext cx="5242255" cy="914400"/>
          </a:xfrm>
          <a:prstGeom prst="roundRect">
            <a:avLst>
              <a:gd name="adj" fmla="val 8000"/>
            </a:avLst>
          </a:prstGeom>
          <a:solidFill>
            <a:srgbClr val="F2EEF9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697480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3FA0"/>
                </a:solidFill>
              </a:rPr>
              <a:t>href="#id"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044"/>
                </a:solidFill>
              </a:rPr>
              <a:t>Pula para um elemento com aquele id na mesma página.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3639312"/>
            <a:ext cx="5242255" cy="914400"/>
          </a:xfrm>
          <a:prstGeom prst="roundRect">
            <a:avLst>
              <a:gd name="adj" fmla="val 8000"/>
            </a:avLst>
          </a:prstGeom>
          <a:solidFill>
            <a:srgbClr val="F2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730752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3FA0"/>
                </a:solidFill>
              </a:rPr>
              <a:t>Texto descritivo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044"/>
                </a:solidFill>
              </a:rPr>
              <a:t>Dentro do &lt;a&gt;: evite 'clique aqui'.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4672584"/>
            <a:ext cx="5242255" cy="914400"/>
          </a:xfrm>
          <a:prstGeom prst="roundRect">
            <a:avLst>
              <a:gd name="adj" fmla="val 8000"/>
            </a:avLst>
          </a:prstGeom>
          <a:solidFill>
            <a:srgbClr val="F2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764024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3FA0"/>
                </a:solidFill>
              </a:rPr>
              <a:t>Por padrão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044"/>
                </a:solidFill>
              </a:rPr>
              <a:t>Links ficam azuis e sublinhados. CSS pode mudar isso.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Imagens: trazendo o visual para a página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4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"foto.jpg"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alt=</a:t>
            </a:r>
            <a:r>
              <a:rPr lang="en-US" sz="14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 de perfil"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width=</a:t>
            </a:r>
            <a:r>
              <a:rPr lang="en-US" sz="14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"300"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11185855" cy="2377440"/>
          </a:xfrm>
          <a:prstGeom prst="roundRect">
            <a:avLst>
              <a:gd name="adj" fmla="val 3462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" y="2743200"/>
            <a:ext cx="107469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Imagem local (mesma pasta) --&gt;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"perfil.jpg"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"Minha foto"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Imagem em subpasta --&gt;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"imagens/banner.png"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"Banner"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Imagem da internet (URL) --&gt;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"https://site.com/foto.jpg"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"Logo"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Imagem com tamanho definido --&gt;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"foto.jpg"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width=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"200"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height=</a:t>
            </a:r>
            <a:r>
              <a:rPr lang="en-US" sz="12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"200"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5166360"/>
            <a:ext cx="2604440" cy="1005840"/>
          </a:xfrm>
          <a:prstGeom prst="roundRect">
            <a:avLst>
              <a:gd name="adj" fmla="val 7273"/>
            </a:avLst>
          </a:prstGeom>
          <a:solidFill>
            <a:srgbClr val="E8F5EE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5257800"/>
            <a:ext cx="2311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7F5A"/>
                </a:solidFill>
              </a:rPr>
              <a:t>✓ Sempre use alt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044"/>
                </a:solidFill>
              </a:rPr>
              <a:t>Leitores de tela usam este texto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3392" y="5166360"/>
            <a:ext cx="2604440" cy="1005840"/>
          </a:xfrm>
          <a:prstGeom prst="roundRect">
            <a:avLst>
              <a:gd name="adj" fmla="val 7273"/>
            </a:avLst>
          </a:prstGeom>
          <a:solidFill>
            <a:srgbClr val="FCECEB"/>
          </a:solidFill>
          <a:ln/>
        </p:spPr>
      </p:sp>
      <p:sp>
        <p:nvSpPr>
          <p:cNvPr id="12" name="Text 10"/>
          <p:cNvSpPr/>
          <p:nvPr/>
        </p:nvSpPr>
        <p:spPr>
          <a:xfrm>
            <a:off x="3509696" y="5257800"/>
            <a:ext cx="2311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5F5C"/>
                </a:solidFill>
              </a:rPr>
              <a:t>✗ img sem alt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044"/>
                </a:solidFill>
              </a:rPr>
              <a:t>É um erro de acessibilidade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3864" y="5166360"/>
            <a:ext cx="2604440" cy="1005840"/>
          </a:xfrm>
          <a:prstGeom prst="roundRect">
            <a:avLst>
              <a:gd name="adj" fmla="val 7273"/>
            </a:avLst>
          </a:prstGeom>
          <a:solidFill>
            <a:srgbClr val="F2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6370168" y="5257800"/>
            <a:ext cx="2311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6B3FA0"/>
                </a:solidFill>
              </a:rPr>
              <a:t>Formatos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044"/>
                </a:solidFill>
              </a:rPr>
              <a:t>jpg/png (fotos), svg (ícones), webp (otimizado)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84335" y="5166360"/>
            <a:ext cx="2604440" cy="1005840"/>
          </a:xfrm>
          <a:prstGeom prst="roundRect">
            <a:avLst>
              <a:gd name="adj" fmla="val 7273"/>
            </a:avLst>
          </a:prstGeom>
          <a:solidFill>
            <a:srgbClr val="F2EEF9"/>
          </a:solidFill>
          <a:ln/>
        </p:spPr>
      </p:sp>
      <p:sp>
        <p:nvSpPr>
          <p:cNvPr id="16" name="Text 14"/>
          <p:cNvSpPr/>
          <p:nvPr/>
        </p:nvSpPr>
        <p:spPr>
          <a:xfrm>
            <a:off x="9230639" y="5257800"/>
            <a:ext cx="2311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6B3FA0"/>
                </a:solidFill>
              </a:rPr>
              <a:t>src errado?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044"/>
                </a:solidFill>
              </a:rPr>
              <a:t>Ícone quebrado, mas o alt ainda aparece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Comentários: notas que o navegador ignora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035040" cy="2834640"/>
          </a:xfrm>
          <a:prstGeom prst="roundRect">
            <a:avLst>
              <a:gd name="adj" fmla="val 2903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55961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TODO: adicionar formulário aqui --&gt;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Código antigo </a:t>
            </a:r>
            <a:r>
              <a:rPr lang="en-US" sz="12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desativado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2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(11) 9999-9999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2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E-mail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lucas@email.com</a:t>
            </a: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1691640"/>
            <a:ext cx="4967935" cy="822960"/>
          </a:xfrm>
          <a:prstGeom prst="roundRect">
            <a:avLst>
              <a:gd name="adj" fmla="val 8889"/>
            </a:avLst>
          </a:prstGeom>
          <a:solidFill>
            <a:srgbClr val="F2EEF9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1783080"/>
            <a:ext cx="4510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3FA0"/>
                </a:solidFill>
              </a:rPr>
              <a:t>Notas para você mesmo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E2044"/>
                </a:solidFill>
              </a:rPr>
              <a:t>"lembre de atualizar este link"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0" y="2651760"/>
            <a:ext cx="4967935" cy="822960"/>
          </a:xfrm>
          <a:prstGeom prst="roundRect">
            <a:avLst>
              <a:gd name="adj" fmla="val 8889"/>
            </a:avLst>
          </a:prstGeom>
          <a:solidFill>
            <a:srgbClr val="F2EEF9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743200"/>
            <a:ext cx="4510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3FA0"/>
                </a:solidFill>
              </a:rPr>
              <a:t>Desativar código temporariamente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E2044"/>
                </a:solidFill>
              </a:rPr>
              <a:t>Sem apagar: fácil de restaurar depois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3611880"/>
            <a:ext cx="4967935" cy="822960"/>
          </a:xfrm>
          <a:prstGeom prst="roundRect">
            <a:avLst>
              <a:gd name="adj" fmla="val 8889"/>
            </a:avLst>
          </a:prstGeom>
          <a:solidFill>
            <a:srgbClr val="F2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3703320"/>
            <a:ext cx="4510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3FA0"/>
                </a:solidFill>
              </a:rPr>
              <a:t>Documentar seções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E2044"/>
                </a:solidFill>
              </a:rPr>
              <a:t>Explicar o que cada parte faz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CECE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75488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aparecem no 'Ver código-fonte': não coloque senhas ou dados privados.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de tags: o que vamos usar hoje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4023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&lt;!DOCTYPE html&gt;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Declara HTML5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&lt;html lang&gt;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Raiz do documento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&lt;head&gt;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Metadados (invisível)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&lt;meta charset&gt;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Suporte a acentos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&lt;title&gt;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Título da aba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&lt;link&gt;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Conecta CSS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&lt;body&gt;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Tudo visível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&lt;header&gt;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Topo da página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&lt;nav&gt;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Menu de navegação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&lt;main&gt;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Conteúdo principal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91640"/>
          <a:ext cx="5394960" cy="4023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&lt;section&gt;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Agrupa um assunto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&lt;footer&gt;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Rodapé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&lt;div&gt;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Container genérico (bloco)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&lt;span&gt;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Container genérico (inline)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&lt;h1&gt;–&lt;h6&gt;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Títulos (hierarquia)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Parágrafo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&lt;strong&gt; / &lt;em&gt;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Negrito / Itálico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&lt;ul&gt; / &lt;ol&gt; / &lt;li&gt;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Listas e itens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&lt;a href&gt;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Link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3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&lt;img src alt&gt;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044"/>
                          </a:solidFill>
                        </a:rPr>
                        <a:t>Imagem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580644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memorizar: use como referência enquanto pratica.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os erros no HTML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760720" cy="4434840"/>
          </a:xfrm>
          <a:prstGeom prst="roundRect">
            <a:avLst>
              <a:gd name="adj" fmla="val 1856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532180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lang=</a:t>
            </a:r>
            <a:r>
              <a:rPr lang="en-US" sz="108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"pt-BR"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</a:t>
            </a:r>
            <a:r>
              <a:rPr lang="en-US" sz="108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Cantina do Seu Zé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Cantina do Seu Zé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Cardápio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Coxinha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Pastel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355080" y="1691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 OS 5 ERROS: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2057400"/>
            <a:ext cx="5333695" cy="566928"/>
          </a:xfrm>
          <a:prstGeom prst="roundRect">
            <a:avLst>
              <a:gd name="adj" fmla="val 12903"/>
            </a:avLst>
          </a:prstGeom>
          <a:solidFill>
            <a:srgbClr val="FCECE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57400"/>
            <a:ext cx="4876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5F5C"/>
                </a:solidFill>
              </a:rPr>
              <a:t>1  </a:t>
            </a:r>
            <a:r>
              <a:rPr lang="en-US" sz="11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 fecha sem barra  →  </a:t>
            </a:r>
            <a:r>
              <a:rPr lang="en-US" sz="1100" i="1" dirty="0">
                <a:solidFill>
                  <a:srgbClr val="6E7191"/>
                </a:solidFill>
              </a:rPr>
              <a:t>deveria ser &lt;/title&gt;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715768"/>
            <a:ext cx="5333695" cy="566928"/>
          </a:xfrm>
          <a:prstGeom prst="roundRect">
            <a:avLst>
              <a:gd name="adj" fmla="val 12903"/>
            </a:avLst>
          </a:prstGeom>
          <a:solidFill>
            <a:srgbClr val="FCECE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715768"/>
            <a:ext cx="4876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5F5C"/>
                </a:solidFill>
              </a:rPr>
              <a:t>2  </a:t>
            </a:r>
            <a:r>
              <a:rPr lang="en-US" sz="11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fecha com &lt;/p&gt;  →  </a:t>
            </a:r>
            <a:r>
              <a:rPr lang="en-US" sz="1100" i="1" dirty="0">
                <a:solidFill>
                  <a:srgbClr val="6E7191"/>
                </a:solidFill>
              </a:rPr>
              <a:t>deveria ser &lt;/h1&gt;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3374136"/>
            <a:ext cx="5333695" cy="566928"/>
          </a:xfrm>
          <a:prstGeom prst="roundRect">
            <a:avLst>
              <a:gd name="adj" fmla="val 12903"/>
            </a:avLst>
          </a:prstGeom>
          <a:solidFill>
            <a:srgbClr val="FCECE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374136"/>
            <a:ext cx="4876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5F5C"/>
                </a:solidFill>
              </a:rPr>
              <a:t>3  </a:t>
            </a:r>
            <a:r>
              <a:rPr lang="en-US" sz="11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 virou &lt;header&gt; de novo  →  </a:t>
            </a:r>
            <a:r>
              <a:rPr lang="en-US" sz="1100" i="1" dirty="0">
                <a:solidFill>
                  <a:srgbClr val="6E7191"/>
                </a:solidFill>
              </a:rPr>
              <a:t>deveria ser &lt;/header&gt;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4032504"/>
            <a:ext cx="5333695" cy="566928"/>
          </a:xfrm>
          <a:prstGeom prst="roundRect">
            <a:avLst>
              <a:gd name="adj" fmla="val 12903"/>
            </a:avLst>
          </a:prstGeom>
          <a:solidFill>
            <a:srgbClr val="FCECE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4032504"/>
            <a:ext cx="4876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5F5C"/>
                </a:solidFill>
              </a:rPr>
              <a:t>4  </a:t>
            </a:r>
            <a:r>
              <a:rPr lang="en-US" sz="11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&lt;h2&gt;Cardápio nunca fecha  →  </a:t>
            </a:r>
            <a:r>
              <a:rPr lang="en-US" sz="1100" i="1" dirty="0">
                <a:solidFill>
                  <a:srgbClr val="6E7191"/>
                </a:solidFill>
              </a:rPr>
              <a:t>falta &lt;/h2&gt;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4690872"/>
            <a:ext cx="5333695" cy="566928"/>
          </a:xfrm>
          <a:prstGeom prst="roundRect">
            <a:avLst>
              <a:gd name="adj" fmla="val 12903"/>
            </a:avLst>
          </a:prstGeom>
          <a:solidFill>
            <a:srgbClr val="FCECE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690872"/>
            <a:ext cx="4876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5F5C"/>
                </a:solidFill>
              </a:rPr>
              <a:t>5  </a:t>
            </a:r>
            <a:r>
              <a:rPr lang="en-US" sz="11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&lt;li&gt;Coxinha&lt;li&gt; sem barra  →  </a:t>
            </a:r>
            <a:r>
              <a:rPr lang="en-US" sz="1100" i="1" dirty="0">
                <a:solidFill>
                  <a:srgbClr val="6E7191"/>
                </a:solidFill>
              </a:rPr>
              <a:t>deveria ser &lt;/li&gt;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sua página do zero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estrutura do cartão digital como modelo, mas com um tema novo escolhido por você.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054291" cy="548640"/>
          </a:xfrm>
          <a:prstGeom prst="roundRect">
            <a:avLst>
              <a:gd name="adj" fmla="val 13333"/>
            </a:avLst>
          </a:prstGeom>
          <a:solidFill>
            <a:srgbClr val="F2EEF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024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85811" y="1920240"/>
            <a:ext cx="2054291" cy="548640"/>
          </a:xfrm>
          <a:prstGeom prst="roundRect">
            <a:avLst>
              <a:gd name="adj" fmla="val 13333"/>
            </a:avLst>
          </a:prstGeom>
          <a:solidFill>
            <a:srgbClr val="F2EEF9"/>
          </a:solidFill>
          <a:ln/>
        </p:spPr>
      </p:sp>
      <p:sp>
        <p:nvSpPr>
          <p:cNvPr id="9" name="Text 7"/>
          <p:cNvSpPr/>
          <p:nvPr/>
        </p:nvSpPr>
        <p:spPr>
          <a:xfrm>
            <a:off x="2785811" y="192024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/ Jogo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68702" y="1920240"/>
            <a:ext cx="2054291" cy="548640"/>
          </a:xfrm>
          <a:prstGeom prst="roundRect">
            <a:avLst>
              <a:gd name="adj" fmla="val 13333"/>
            </a:avLst>
          </a:prstGeom>
          <a:solidFill>
            <a:srgbClr val="F2EEF9"/>
          </a:solidFill>
          <a:ln/>
        </p:spPr>
      </p:sp>
      <p:sp>
        <p:nvSpPr>
          <p:cNvPr id="11" name="Text 9"/>
          <p:cNvSpPr/>
          <p:nvPr/>
        </p:nvSpPr>
        <p:spPr>
          <a:xfrm>
            <a:off x="5068702" y="192024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/ Filme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51593" y="1920240"/>
            <a:ext cx="2054291" cy="548640"/>
          </a:xfrm>
          <a:prstGeom prst="roundRect">
            <a:avLst>
              <a:gd name="adj" fmla="val 13333"/>
            </a:avLst>
          </a:prstGeom>
          <a:solidFill>
            <a:srgbClr val="F2EEF9"/>
          </a:solidFill>
          <a:ln/>
        </p:spPr>
      </p:sp>
      <p:sp>
        <p:nvSpPr>
          <p:cNvPr id="13" name="Text 11"/>
          <p:cNvSpPr/>
          <p:nvPr/>
        </p:nvSpPr>
        <p:spPr>
          <a:xfrm>
            <a:off x="7351593" y="192024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Lanchonete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34484" y="1920240"/>
            <a:ext cx="2054291" cy="548640"/>
          </a:xfrm>
          <a:prstGeom prst="roundRect">
            <a:avLst>
              <a:gd name="adj" fmla="val 13333"/>
            </a:avLst>
          </a:prstGeom>
          <a:solidFill>
            <a:srgbClr val="F2EEF9"/>
          </a:solidFill>
          <a:ln/>
        </p:spPr>
      </p:sp>
      <p:sp>
        <p:nvSpPr>
          <p:cNvPr id="15" name="Text 13"/>
          <p:cNvSpPr/>
          <p:nvPr/>
        </p:nvSpPr>
        <p:spPr>
          <a:xfrm>
            <a:off x="9634484" y="192024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MÍNIMOS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108960"/>
            <a:ext cx="54100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Estrutura completa: DOCTYPE, html, head (charset + title), body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1 &lt;header&gt; com &lt;h1&gt; e &lt;p&gt; de apresentação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1 &lt;main&gt; com pelo menos 3 &lt;section&gt;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Cada section com &lt;h2&gt; próprio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7288" y="3108960"/>
            <a:ext cx="54100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☐  Pelo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menos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1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lista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&lt;ul&gt; com 3+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itens</a:t>
            </a:r>
            <a:endParaRPr lang="en-US" sz="1200" dirty="0" err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☐  Pelo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menos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1 link &lt;a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href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&gt;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☐  Pelo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menos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1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imagem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&lt;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img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src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alt&gt; (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Opcional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☐  1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comentário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HTML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explicando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1200" dirty="0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2044"/>
                </a:solidFill>
                <a:latin typeface="Calibri"/>
                <a:ea typeface="Calibri"/>
                <a:cs typeface="Calibri"/>
              </a:rPr>
              <a:t>seção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98932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escreva o conteúdo em texto primeiro, depois envolva com as tags certas.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CSS?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Sheets. A linguagem que controla a aparência da página.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965960"/>
            <a:ext cx="300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2331720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cascata": quando duas regras se aplicam ao mesmo elemento, a mais específica (ou a última) vence.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8218" y="178308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4250" y="1965960"/>
            <a:ext cx="300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94250" y="2331720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aparência: cores, fontes, espaçamento, layout. Tudo visual.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3517" y="178308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29549" y="1965960"/>
            <a:ext cx="300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29549" y="2331720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"Folhas" de estilo: arquivos de regras, reutilizáveis em várias páginas do site.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HTML, COM E SEM CSS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FCECE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60520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25F5C"/>
                </a:solidFill>
              </a:rPr>
              <a:t>SEM CSS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044"/>
                </a:solidFill>
              </a:rPr>
              <a:t>Fonte padrão, sem cores, sem espaçamento. O visual cru do navegador.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8728" y="402336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E8F5EE"/>
          </a:solidFill>
          <a:ln/>
        </p:spPr>
      </p:sp>
      <p:sp>
        <p:nvSpPr>
          <p:cNvPr id="19" name="Text 17"/>
          <p:cNvSpPr/>
          <p:nvPr/>
        </p:nvSpPr>
        <p:spPr>
          <a:xfrm>
            <a:off x="6507328" y="4160520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7F5A"/>
                </a:solidFill>
              </a:rPr>
              <a:t>COM CSS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044"/>
                </a:solidFill>
              </a:rPr>
              <a:t>Mesma estrutura HTML. Cores, fontes e espaçamento controlados pelo CSS.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66928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66928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define O QUÊ existe na página. CSS define COMO essa página aparece.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criar e conectar o CSS ao HTML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 de escrever CSS. Como cada uma se liga à página.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" y="2240280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</a:t>
            </a:r>
            <a:r>
              <a:rPr lang="en-US" sz="105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"color: red;"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 em vermelho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474720"/>
            <a:ext cx="354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 no atributo style da tag. Rápido, mas difícil de manter. Evite no projeto.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22978" y="178308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INTERNO (EMBUTIDO)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978" y="210312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42434" y="2240280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h1 { </a:t>
            </a:r>
            <a:r>
              <a:rPr lang="en-US" sz="100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navy; }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22978" y="3474720"/>
            <a:ext cx="354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&lt;style&gt; no &lt;head&gt;. Só vale para essa página. Não dá pra reaproveitar.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43037" y="178308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EXTERNO ★ RECOMENDADO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43037" y="210312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2493" y="2240280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</a:t>
            </a:r>
            <a:r>
              <a:rPr lang="en-US" sz="10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href=</a:t>
            </a:r>
            <a:r>
              <a:rPr lang="en-US" sz="1000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"style.css"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43037" y="3474720"/>
            <a:ext cx="354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.css separado, conectado via &lt;link&gt;. Reutilizável entre páginas e mais fácil de manter.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800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CONTEÚDO DO ARQUIVO STYLE.CSS: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1206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" y="5257800"/>
            <a:ext cx="4956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style.css */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navy;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32px;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5120640"/>
            <a:ext cx="5562295" cy="1417320"/>
          </a:xfrm>
          <a:prstGeom prst="roundRect">
            <a:avLst>
              <a:gd name="adj" fmla="val 5161"/>
            </a:avLst>
          </a:prstGeom>
          <a:solidFill>
            <a:srgbClr val="E8F5EE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5120640"/>
            <a:ext cx="5105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cartão digital: use CSS externo. Ele separa estrutura (HTML) de aparência (CSS), facilita manutenção e é o padrão usado no mercado.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CSS: seletor, propriedade, valor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495604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white;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42px;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bold;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17px;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#1f2933;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333695" cy="658368"/>
          </a:xfrm>
          <a:prstGeom prst="roundRect">
            <a:avLst>
              <a:gd name="adj" fmla="val 11111"/>
            </a:avLst>
          </a:prstGeom>
          <a:solidFill>
            <a:srgbClr val="F2EE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876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A623"/>
                </a:solidFill>
              </a:rPr>
              <a:t>SELETOR   </a:t>
            </a:r>
            <a:r>
              <a:rPr lang="en-US" sz="110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/ p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044"/>
                </a:solidFill>
              </a:rPr>
              <a:t>Qual elemento HTML vai ser estilizado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2468880"/>
            <a:ext cx="5333695" cy="658368"/>
          </a:xfrm>
          <a:prstGeom prst="roundRect">
            <a:avLst>
              <a:gd name="adj" fmla="val 11111"/>
            </a:avLst>
          </a:prstGeom>
          <a:solidFill>
            <a:srgbClr val="F2EEF9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468880"/>
            <a:ext cx="4876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A623"/>
                </a:solidFill>
              </a:rPr>
              <a:t>{ }   </a:t>
            </a:r>
            <a:r>
              <a:rPr lang="en-US" sz="110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de estilos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044"/>
                </a:solidFill>
              </a:rPr>
              <a:t>Abre e fecha o conjunto de declarações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3246120"/>
            <a:ext cx="5333695" cy="658368"/>
          </a:xfrm>
          <a:prstGeom prst="roundRect">
            <a:avLst>
              <a:gd name="adj" fmla="val 11111"/>
            </a:avLst>
          </a:prstGeom>
          <a:solidFill>
            <a:srgbClr val="F2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246120"/>
            <a:ext cx="4876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A623"/>
                </a:solidFill>
              </a:rPr>
              <a:t>PROPRIEDADE   </a:t>
            </a:r>
            <a:r>
              <a:rPr lang="en-US" sz="110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color, font-size...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044"/>
                </a:solidFill>
              </a:rPr>
              <a:t>O que você quer mudar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4023360"/>
            <a:ext cx="5333695" cy="658368"/>
          </a:xfrm>
          <a:prstGeom prst="roundRect">
            <a:avLst>
              <a:gd name="adj" fmla="val 11111"/>
            </a:avLst>
          </a:prstGeom>
          <a:solidFill>
            <a:srgbClr val="F2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4023360"/>
            <a:ext cx="4876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A623"/>
                </a:solidFill>
              </a:rPr>
              <a:t>VALOR   </a:t>
            </a:r>
            <a:r>
              <a:rPr lang="en-US" sz="110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white, 42px...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044"/>
                </a:solidFill>
              </a:rPr>
              <a:t>Para qual valor você quer mudar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4800600"/>
            <a:ext cx="5333695" cy="658368"/>
          </a:xfrm>
          <a:prstGeom prst="roundRect">
            <a:avLst>
              <a:gd name="adj" fmla="val 11111"/>
            </a:avLst>
          </a:prstGeom>
          <a:solidFill>
            <a:srgbClr val="F2EEF9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4800600"/>
            <a:ext cx="4876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A623"/>
                </a:solidFill>
              </a:rPr>
              <a:t>;   </a:t>
            </a:r>
            <a:r>
              <a:rPr lang="en-US" sz="110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 e vírgula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044"/>
                </a:solidFill>
              </a:rPr>
              <a:t>Obrigatório ao final de cada declaração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608076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608076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'propriedade: valor;' é uma declaração. Um bloco pode ter quantas declarações quiser.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Seletores CSS: quem vai receber o estilo?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DE ELEMENTO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2376" y="2148840"/>
            <a:ext cx="31068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Todos os parágrafos */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16px;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3545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 TODOS os elementos p da página.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22978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DE CLASSE  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201168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2434" y="2148840"/>
            <a:ext cx="31068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&lt;p class="destaque"&gt; */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.destaque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bold;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22978" y="3794760"/>
            <a:ext cx="3545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 só elementos com essa classe. Reutilizável.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43037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DE ID  #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3037" y="201168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2493" y="2148840"/>
            <a:ext cx="31068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&lt;header id="topo"&gt; */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#topo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white;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43037" y="3794760"/>
            <a:ext cx="3545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 1 único elemento. id é único por página.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93776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3776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Prioridade:  id  &gt;  class  &gt;  elemento  (quando em conflito, id vence).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no CSS: três formas de escrever a mesma cor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(NAMED COLORS)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2376" y="2148840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red;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white;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border-color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navy;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3545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nomes disponíveis. Simples, mas pouco preciso.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22978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HEXADECIMAL #RRGGBB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201168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2434" y="2148840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#ff0000;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#2563eb;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#15191f;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22978" y="3383280"/>
            <a:ext cx="3545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Vermelho, verde, azul em hex (00-ff). Mais comum.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43037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/ RGBA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3037" y="201168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2493" y="2148840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rgb(255,0,0);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rgba(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0,0,0, 0.5);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43037" y="3383280"/>
            <a:ext cx="3545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 adiciona alpha (transparência): 0=invisível, 1=opaco.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1302220" cy="640080"/>
          </a:xfrm>
          <a:prstGeom prst="roundRect">
            <a:avLst>
              <a:gd name="adj" fmla="val 8571"/>
            </a:avLst>
          </a:prstGeom>
          <a:solidFill>
            <a:srgbClr val="FF000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14868" y="4343400"/>
            <a:ext cx="1302220" cy="64008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6816" y="4343400"/>
            <a:ext cx="1302220" cy="64008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8764" y="4343400"/>
            <a:ext cx="130222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50712" y="4343400"/>
            <a:ext cx="1302220" cy="640080"/>
          </a:xfrm>
          <a:prstGeom prst="roundRect">
            <a:avLst>
              <a:gd name="adj" fmla="val 8571"/>
            </a:avLst>
          </a:prstGeom>
          <a:solidFill>
            <a:srgbClr val="15191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62660" y="4343400"/>
            <a:ext cx="13022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74607" y="4343400"/>
            <a:ext cx="1302220" cy="64008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6555" y="4343400"/>
            <a:ext cx="1302220" cy="640080"/>
          </a:xfrm>
          <a:prstGeom prst="roundRect">
            <a:avLst>
              <a:gd name="adj" fmla="val 8571"/>
            </a:avLst>
          </a:prstGeom>
          <a:solidFill>
            <a:srgbClr val="DC262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2578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578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 color picker: coolors.co, paletton.com ou o DevTools do Chrome para escolher e copiar o hex.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model: todo elemento é uma caixa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2EE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 MARGIN ──────┐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┌──── BORDER ────┐ │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 ┌── PADDING ──┐│ │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 │  CONTEÚDO   ││ │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 └─────────────┘│ │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└─────────────────┘ │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almofada interna   ·   MARGIN: margem externa   ·   BORDER: a borda em si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516575" cy="3520440"/>
          </a:xfrm>
          <a:prstGeom prst="roundRect">
            <a:avLst>
              <a:gd name="adj" fmla="val 2338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91656" y="1828800"/>
            <a:ext cx="5077663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PADDING: espaço POR DENTRO */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{ </a:t>
            </a:r>
            <a:r>
              <a:rPr lang="en-US" sz="120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20px; 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MARGIN: espaço POR FORA */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{ </a:t>
            </a:r>
            <a:r>
              <a:rPr lang="en-US" sz="120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 auto; 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BORDER */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2px solid #2563eb;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8px;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CSS mais usadas: referência rápida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45738" cy="3840480"/>
          </a:xfrm>
          <a:prstGeom prst="roundRect">
            <a:avLst>
              <a:gd name="adj" fmla="val 2321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2376" y="2148840"/>
            <a:ext cx="310682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Arial, sans-serif;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18px;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bold;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font-style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italic;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1.6;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center;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none;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#1f2933;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322978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E BORDA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2978" y="2011680"/>
            <a:ext cx="3545738" cy="3840480"/>
          </a:xfrm>
          <a:prstGeom prst="roundRect">
            <a:avLst>
              <a:gd name="adj" fmla="val 2321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2434" y="2148840"/>
            <a:ext cx="310682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#eef2f3;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2px solid #ccc;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8px;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50%;  </a:t>
            </a:r>
            <a:r>
              <a:rPr lang="en-US" sz="108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círculo */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 2px 8px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rgba(0,0,0,0.1);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143037" y="1691640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E ESPAÇO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43037" y="2011680"/>
            <a:ext cx="3545738" cy="3840480"/>
          </a:xfrm>
          <a:prstGeom prst="roundRect">
            <a:avLst>
              <a:gd name="adj" fmla="val 2321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2493" y="2148840"/>
            <a:ext cx="310682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300px;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900px;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24px;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 auto;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flex;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wrap;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10px;</a:t>
            </a:r>
            <a:endParaRPr lang="en-US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DevTools: o que o navegador está fazendo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abrir: F12 ou Ctrl+Shift+I. Chrome, Edge e Firefox.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6596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PAINEL: ELEMENTS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o HTML renderizado. Clique em qualquer elemento para ver seu CSS ao lado.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978" y="178308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1578" y="196596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PAINEL: STYLES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51578" y="233172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e edite o CSS ao vivo. Mudanças são temporárias (não salva no arquivo).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1637" y="196596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PAINEL: CONSOLE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71637" y="233172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HTML/CSS aparecem aqui. Útil para JavaScript mais tarde.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11185855" cy="1965960"/>
          </a:xfrm>
          <a:prstGeom prst="roundRect">
            <a:avLst>
              <a:gd name="adj" fmla="val 3721"/>
            </a:avLst>
          </a:prstGeom>
          <a:solidFill>
            <a:srgbClr val="F2EEF9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611880"/>
            <a:ext cx="10673791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6B3FA0"/>
                </a:solidFill>
              </a:rPr>
              <a:t>Usos comuns: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E2044"/>
                </a:solidFill>
              </a:rPr>
              <a:t>→  Ver por que um elemento não está onde deveria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E2044"/>
                </a:solidFill>
              </a:rPr>
              <a:t>→  Testar cores e tamanhos antes de editar o arquivo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044"/>
                </a:solidFill>
              </a:rPr>
              <a:t>→  Entender o box model de qualquer elemento (aba Computed)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623560"/>
            <a:ext cx="11185855" cy="438912"/>
          </a:xfrm>
          <a:prstGeom prst="roundRect">
            <a:avLst>
              <a:gd name="adj" fmla="val 16667"/>
            </a:avLst>
          </a:prstGeom>
          <a:solidFill>
            <a:srgbClr val="F2EE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623560"/>
            <a:ext cx="107286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clique com o botão direito em qualquer elemento → 'Inspecionar' → vai direto ao elemento no DevTools.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6126480"/>
            <a:ext cx="11185855" cy="438912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126480"/>
            <a:ext cx="107286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VS Code: extensão Live Server mostra o resultado em tempo real enquanto você digita.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  ·  45 MIN  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no visual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um resultado visual e precisa escrever o CSS externo que o reproduz.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VISUAL: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806440" cy="493776"/>
          </a:xfrm>
          <a:prstGeom prst="roundRect">
            <a:avLst>
              <a:gd name="adj" fmla="val 14815"/>
            </a:avLst>
          </a:prstGeom>
          <a:solidFill>
            <a:srgbClr val="FCEC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C"/>
                </a:solidFill>
              </a:rPr>
              <a:t>Fundo da página:  </a:t>
            </a:r>
            <a:r>
              <a:rPr lang="en-US" sz="1100" dirty="0">
                <a:solidFill>
                  <a:srgbClr val="1E2044"/>
                </a:solidFill>
              </a:rPr>
              <a:t>cinza claro (#eef2f3), não branco puro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5806440" cy="493776"/>
          </a:xfrm>
          <a:prstGeom prst="roundRect">
            <a:avLst>
              <a:gd name="adj" fmla="val 14815"/>
            </a:avLst>
          </a:prstGeom>
          <a:solidFill>
            <a:srgbClr val="FCEC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7004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C"/>
                </a:solidFill>
              </a:rPr>
              <a:t>Header:  </a:t>
            </a:r>
            <a:r>
              <a:rPr lang="en-US" sz="1100" dirty="0">
                <a:solidFill>
                  <a:srgbClr val="1E2044"/>
                </a:solidFill>
              </a:rPr>
              <a:t>fundo escuro (#15191f), texto branco, padding 40px+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236976"/>
            <a:ext cx="5806440" cy="493776"/>
          </a:xfrm>
          <a:prstGeom prst="roundRect">
            <a:avLst>
              <a:gd name="adj" fmla="val 14815"/>
            </a:avLst>
          </a:prstGeom>
          <a:solidFill>
            <a:srgbClr val="FCEC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36976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C"/>
                </a:solidFill>
              </a:rPr>
              <a:t>Sections:  </a:t>
            </a:r>
            <a:r>
              <a:rPr lang="en-US" sz="1100" dirty="0">
                <a:solidFill>
                  <a:srgbClr val="1E2044"/>
                </a:solidFill>
              </a:rPr>
              <a:t>fundo branco, borda colorida à esquerda, cantos arredondados, sombra suave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03904"/>
            <a:ext cx="5806440" cy="493776"/>
          </a:xfrm>
          <a:prstGeom prst="roundRect">
            <a:avLst>
              <a:gd name="adj" fmla="val 14815"/>
            </a:avLst>
          </a:prstGeom>
          <a:solidFill>
            <a:srgbClr val="FCEC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03904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C"/>
                </a:solidFill>
              </a:rPr>
              <a:t>Títulos h2:  </a:t>
            </a:r>
            <a:r>
              <a:rPr lang="en-US" sz="1100" dirty="0">
                <a:solidFill>
                  <a:srgbClr val="1E2044"/>
                </a:solidFill>
              </a:rPr>
              <a:t>cor de destaque azul (#2563eb)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370832"/>
            <a:ext cx="5806440" cy="493776"/>
          </a:xfrm>
          <a:prstGeom prst="roundRect">
            <a:avLst>
              <a:gd name="adj" fmla="val 14815"/>
            </a:avLst>
          </a:prstGeom>
          <a:solidFill>
            <a:srgbClr val="FCEC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70832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C"/>
                </a:solidFill>
              </a:rPr>
              <a:t>Links:  </a:t>
            </a:r>
            <a:r>
              <a:rPr lang="en-US" sz="1100" dirty="0">
                <a:solidFill>
                  <a:srgbClr val="1E2044"/>
                </a:solidFill>
              </a:rPr>
              <a:t>parecem botões (padding, border-radius, cor de fundo)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1783080"/>
            <a:ext cx="5150815" cy="1737360"/>
          </a:xfrm>
          <a:prstGeom prst="roundRect">
            <a:avLst>
              <a:gd name="adj" fmla="val 473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57416" y="1920240"/>
            <a:ext cx="47119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Propriedades que você vai precisar: */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   color        font-family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          font-weight  text-align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            margin       border-left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      box-shadow   max-width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           text-decoration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3657600"/>
            <a:ext cx="5150815" cy="1417320"/>
          </a:xfrm>
          <a:prstGeom prst="roundRect">
            <a:avLst>
              <a:gd name="adj" fmla="val 5161"/>
            </a:avLst>
          </a:prstGeom>
          <a:solidFill>
            <a:srgbClr val="F2EEF9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794760"/>
            <a:ext cx="46936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6B3FA0"/>
                </a:solidFill>
              </a:rPr>
              <a:t>Desafio extra: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044"/>
                </a:solidFill>
              </a:rPr>
              <a:t>Lista de habilidades em "pílulas" coloridas: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999px; display: flex;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2578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578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comece pelo body e header. Depois main. Depois section. Depois os detalhes.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outros conseguem ler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786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810512"/>
            <a:ext cx="50762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B3FA0"/>
                </a:solidFill>
              </a:rPr>
              <a:t>1  </a:t>
            </a:r>
            <a:r>
              <a:rPr lang="en-US" sz="1200" b="1" dirty="0">
                <a:solidFill>
                  <a:srgbClr val="1E2044"/>
                </a:solidFill>
              </a:rPr>
              <a:t>Indente sempre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ou 4 espaços por nível de profundidade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0148" y="1737360"/>
            <a:ext cx="54786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11316" y="1810512"/>
            <a:ext cx="50762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B3FA0"/>
                </a:solidFill>
              </a:rPr>
              <a:t>2  </a:t>
            </a:r>
            <a:r>
              <a:rPr lang="en-US" sz="1200" b="1" dirty="0">
                <a:solidFill>
                  <a:srgbClr val="1E2044"/>
                </a:solidFill>
              </a:rPr>
              <a:t>Nomes de arquivo em minúsculo, sem espaços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index.html, style.css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54786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2587752"/>
            <a:ext cx="50762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B3FA0"/>
                </a:solidFill>
              </a:rPr>
              <a:t>3  </a:t>
            </a:r>
            <a:r>
              <a:rPr lang="en-US" sz="1200" b="1" dirty="0">
                <a:solidFill>
                  <a:srgbClr val="1E2044"/>
                </a:solidFill>
              </a:rPr>
              <a:t>Sempre use alt em imagens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src="foto.jpg" alt="Minha foto"&gt;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0148" y="2514600"/>
            <a:ext cx="54786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1316" y="2587752"/>
            <a:ext cx="50762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B3FA0"/>
                </a:solidFill>
              </a:rPr>
              <a:t>4  </a:t>
            </a:r>
            <a:r>
              <a:rPr lang="en-US" sz="1200" b="1" dirty="0">
                <a:solidFill>
                  <a:srgbClr val="1E2044"/>
                </a:solidFill>
              </a:rPr>
              <a:t>Um só &lt;h1&gt; por página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h2, h3, h4 podem se repetir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54786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" y="3364992"/>
            <a:ext cx="50762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B3FA0"/>
                </a:solidFill>
              </a:rPr>
              <a:t>5  </a:t>
            </a:r>
            <a:r>
              <a:rPr lang="en-US" sz="1200" b="1" dirty="0">
                <a:solidFill>
                  <a:srgbClr val="1E2044"/>
                </a:solidFill>
              </a:rPr>
              <a:t>Comente seções complexas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seção de projetos --&gt;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0148" y="3291840"/>
            <a:ext cx="54786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04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11316" y="3364992"/>
            <a:ext cx="50762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B3FA0"/>
                </a:solidFill>
              </a:rPr>
              <a:t>6  </a:t>
            </a:r>
            <a:r>
              <a:rPr lang="en-US" sz="1200" b="1" dirty="0">
                <a:solidFill>
                  <a:srgbClr val="1E2044"/>
                </a:solidFill>
              </a:rPr>
              <a:t>Valide seu HTML/CSS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validator.w3.org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COMPARAÇÃO: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5455768" cy="1234440"/>
          </a:xfrm>
          <a:prstGeom prst="roundRect">
            <a:avLst>
              <a:gd name="adj" fmla="val 666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" y="4709160"/>
            <a:ext cx="501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✗ Difícil de ler --&gt;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&lt;div&gt;&lt;div&gt;&lt;h1&gt;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&lt;/p&gt;&lt;/div&gt;&lt;/div&gt;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8494" y="4528458"/>
            <a:ext cx="5470282" cy="1597296"/>
          </a:xfrm>
          <a:prstGeom prst="roundRect">
            <a:avLst>
              <a:gd name="adj" fmla="val 6667"/>
            </a:avLst>
          </a:prstGeom>
          <a:solidFill>
            <a:srgbClr val="262A4A"/>
          </a:solidFill>
          <a:ln/>
          <a:effectLst>
            <a:outerShdw blurRad="127000" dist="38100" dir="5400000" algn="bl" rotWithShape="0">
              <a:srgbClr val="1E2044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52464" y="4709160"/>
            <a:ext cx="501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i="1" dirty="0">
                <a:solidFill>
                  <a:srgbClr val="838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✓ Fácil de ler --&gt;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</a:t>
            </a: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CARTÃO DIGITAL ·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de hoje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HTML organiza o conteúdo. CSS muda a aparência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Toda tag aberta precisa fechar (exceto self-closing)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Conteúdo visível fica no &lt;body&gt;, metadados no &lt;head&gt;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CSS pode ser inline, interno ou externo. Externo é o recomendado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Conecte o CSS externo com &lt;link rel="stylesheet" href="..."&gt; no &lt;head&gt;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Seletores CSS: elemento, .classe, #id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padding = por dentro  ·  margin = por fora  ·  border = a borda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E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DevTools (F12) é sua ferramenta de debug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 · 6 PERGUNTAS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2057400"/>
            <a:ext cx="5105095" cy="493776"/>
          </a:xfrm>
          <a:prstGeom prst="roundRect">
            <a:avLst>
              <a:gd name="adj" fmla="val 14815"/>
            </a:avLst>
          </a:prstGeom>
          <a:solidFill>
            <a:srgbClr val="F2EEF9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057400"/>
            <a:ext cx="4739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623"/>
                </a:solidFill>
              </a:rPr>
              <a:t>1  </a:t>
            </a:r>
            <a:r>
              <a:rPr lang="en-US" sz="1100" dirty="0">
                <a:solidFill>
                  <a:srgbClr val="1E2044"/>
                </a:solidFill>
              </a:rPr>
              <a:t>Para que serve HTML? E CSS?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2624328"/>
            <a:ext cx="5105095" cy="493776"/>
          </a:xfrm>
          <a:prstGeom prst="roundRect">
            <a:avLst>
              <a:gd name="adj" fmla="val 14815"/>
            </a:avLst>
          </a:prstGeom>
          <a:solidFill>
            <a:srgbClr val="F2EEF9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624328"/>
            <a:ext cx="4739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623"/>
                </a:solidFill>
              </a:rPr>
              <a:t>2  </a:t>
            </a:r>
            <a:r>
              <a:rPr lang="en-US" sz="1100" dirty="0">
                <a:solidFill>
                  <a:srgbClr val="1E2044"/>
                </a:solidFill>
              </a:rPr>
              <a:t>Qual parte aparece na tela: &lt;head&gt; ou &lt;body&gt;?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3191256"/>
            <a:ext cx="5105095" cy="493776"/>
          </a:xfrm>
          <a:prstGeom prst="roundRect">
            <a:avLst>
              <a:gd name="adj" fmla="val 14815"/>
            </a:avLst>
          </a:prstGeom>
          <a:solidFill>
            <a:srgbClr val="F2EEF9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191256"/>
            <a:ext cx="4739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623"/>
                </a:solidFill>
              </a:rPr>
              <a:t>3  </a:t>
            </a:r>
            <a:r>
              <a:rPr lang="en-US" sz="1100" dirty="0">
                <a:solidFill>
                  <a:srgbClr val="1E2044"/>
                </a:solidFill>
              </a:rPr>
              <a:t>O que é um atributo? Dê um exemplo.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758184"/>
            <a:ext cx="5105095" cy="493776"/>
          </a:xfrm>
          <a:prstGeom prst="roundRect">
            <a:avLst>
              <a:gd name="adj" fmla="val 14815"/>
            </a:avLst>
          </a:prstGeom>
          <a:solidFill>
            <a:srgbClr val="F2EEF9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758184"/>
            <a:ext cx="4739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623"/>
                </a:solidFill>
              </a:rPr>
              <a:t>4  </a:t>
            </a:r>
            <a:r>
              <a:rPr lang="en-US" sz="1100" dirty="0">
                <a:solidFill>
                  <a:srgbClr val="1E2044"/>
                </a:solidFill>
              </a:rPr>
              <a:t>Qual tag cria um link? E uma imagem?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325112"/>
            <a:ext cx="5105095" cy="493776"/>
          </a:xfrm>
          <a:prstGeom prst="roundRect">
            <a:avLst>
              <a:gd name="adj" fmla="val 14815"/>
            </a:avLst>
          </a:prstGeom>
          <a:solidFill>
            <a:srgbClr val="F2EEF9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325112"/>
            <a:ext cx="4739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623"/>
                </a:solidFill>
              </a:rPr>
              <a:t>5  </a:t>
            </a:r>
            <a:r>
              <a:rPr lang="en-US" sz="1100" dirty="0">
                <a:solidFill>
                  <a:srgbClr val="1E2044"/>
                </a:solidFill>
              </a:rPr>
              <a:t>Qual a diferença entre padding e margin?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4892040"/>
            <a:ext cx="5105095" cy="493776"/>
          </a:xfrm>
          <a:prstGeom prst="roundRect">
            <a:avLst>
              <a:gd name="adj" fmla="val 14815"/>
            </a:avLst>
          </a:prstGeom>
          <a:solidFill>
            <a:srgbClr val="F2EEF9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892040"/>
            <a:ext cx="4739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623"/>
                </a:solidFill>
              </a:rPr>
              <a:t>6  </a:t>
            </a:r>
            <a:r>
              <a:rPr lang="en-US" sz="1100" dirty="0">
                <a:solidFill>
                  <a:srgbClr val="1E2044"/>
                </a:solidFill>
              </a:rPr>
              <a:t>Como você conecta um arquivo .css ao HTML?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2EEF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98932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Flexbox, CSS Grid e responsividade. Layouts mais complexos.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29</Slides>
  <Notes>29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&amp; CSS - Cartão Digital</dc:title>
  <dc:subject>PptxGenJS Presentation</dc:subject>
  <dc:creator>Lucas Gabriel</dc:creator>
  <cp:lastModifiedBy>Lucas Gabriel</cp:lastModifiedBy>
  <cp:revision>11</cp:revision>
  <dcterms:created xsi:type="dcterms:W3CDTF">2026-07-01T11:21:14Z</dcterms:created>
  <dcterms:modified xsi:type="dcterms:W3CDTF">2026-07-01T11:26:12Z</dcterms:modified>
</cp:coreProperties>
</file>